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5" r:id="rId8"/>
    <p:sldId id="266" r:id="rId9"/>
    <p:sldId id="261" r:id="rId10"/>
    <p:sldId id="263" r:id="rId11"/>
    <p:sldId id="264" r:id="rId12"/>
  </p:sldIdLst>
  <p:sldSz cx="12192000" cy="6858000"/>
  <p:notesSz cx="6858000" cy="9144000"/>
  <p:embeddedFontLst>
    <p:embeddedFont>
      <p:font typeface="Verdana" panose="020B060403050404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3A8"/>
    <a:srgbClr val="F1B317"/>
    <a:srgbClr val="EF66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528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93776" cy="49377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A753-1C3F-46CB-7A21-E43AB1210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BDCFD-09E5-9512-D5AB-DC30D71DA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2162F-ABA0-C8EC-C6AB-99AD9B77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F34AF-7C29-0D3B-FF80-88D71E4B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DBE5C-EBC8-5252-6914-11B10FA79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5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61DA-3613-B208-EFF0-76844D99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54193-DBEC-E941-2958-ECCA74D61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885C4-B4B0-7810-29AF-3EDD2116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97069-1F25-9645-60A7-590F4E75D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27A4C-AFFF-27C8-6F91-32843D071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8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B6F9-C59F-228A-342E-5082CBA3E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9C819-0E30-88A7-60C4-EA6C41471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EE423-1BB2-6181-E2AD-5CF17365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AB8C1-CB4B-6901-63D0-B6601508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07F50-1BFC-82CC-5B90-84839ABE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31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610A-7EC2-0D06-2F08-49D4A789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B693-4706-FA15-7A3E-360C4EE23C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26AEB-9DB9-CCF8-D808-FA59311E9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EFFA6-4EEE-0345-23EC-F861FA8EB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4BBB3-6723-2EE7-F51B-EAFBC89C7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13E87-4B5A-0DEF-1428-A7619C444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9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2DC1-B102-8C1D-455B-CF002FE38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5728E-0246-5527-1932-F44D7944E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57FE2-1A0C-13E5-7939-78A295F63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9DC379-3D84-2FF8-14C8-6529C38F3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C7D5E-6AAF-B9B2-8BAB-E3C19E689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608C4-174A-677E-F2D4-DF3FF1843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F5A8B-1001-CEE1-CC0D-606A7A4E4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41953F-F78A-D1DA-F2E7-14213C49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1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3179-65C5-554C-7E6C-558408F2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214F55-7B7E-B838-A9EB-6385F08F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04659-7B80-D5F0-1B80-5560DA322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A45B2-D9BB-C4A5-1685-29157793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9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479992-8105-D527-D578-9AEDF0749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BAD2FC-454A-E0D1-8418-E8DD3DC89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C30E0-48FC-7F69-2B0F-BE0223BD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38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3D89-43D9-5A47-B940-F7585640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6AFBE-5A2A-1E63-A3AA-C600FF01B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63FD1-9852-6370-2503-2BABFF8B3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FD8E9-6AB7-0741-9F40-A3FF7E6C5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BCADE-1184-72BB-2FF3-3FC5BA0C2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915B4-745B-97FA-60AE-62B1B0AE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2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82DB-5F7C-19B0-42D2-8D18BF66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C2F5FB-B394-083B-9F8F-36148F944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076D7-9CF1-C46F-04BE-18A8B25F4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3EFD4-1DEE-CA8A-411C-22B3451A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DEED3-7AAC-D531-9FCB-35E86747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51691-EE32-67E9-C6D1-BC45BB28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85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B67D-7795-9EE1-2F01-A95A5F4AC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BCC18-9D52-DEAF-0155-4B2AF3985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10D84-E188-C690-4358-A9F9EA40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3F4CC-1FBF-78BF-2FDA-EDA386BC6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1F7CB-671E-195C-C01F-22D59C95D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1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6FE6E3-A7DB-B1EC-E8E1-549BF4F32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3BD60-F7DC-C6C7-FD01-1904AB774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E15FF-3DBD-6E3A-C017-C66346B4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8335-BD87-766C-DE1E-08599C7A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89D64-5D26-9E61-8EDF-B892F362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2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DECB1-8B84-6360-C7B8-9A3359D4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44BA3-AC51-29B3-4D1F-EAC30F771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B8F58-84A7-418B-EC20-5FF74BA42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A9685-ADA8-44ED-AA14-6E93EC413756}" type="datetimeFigureOut">
              <a:rPr lang="en-US" smtClean="0"/>
              <a:t>15-Jan-24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C00D3-6D4E-BFB4-3410-27EF6D67A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5518C-1E93-802F-AE40-9A3BBE1DF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73725-BA29-44F7-9EF0-699F58A75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0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5057707-F681-4D45-0128-1A497119B3E7}"/>
              </a:ext>
            </a:extLst>
          </p:cNvPr>
          <p:cNvSpPr/>
          <p:nvPr/>
        </p:nvSpPr>
        <p:spPr>
          <a:xfrm>
            <a:off x="2687255" y="1609395"/>
            <a:ext cx="6817488" cy="3125165"/>
          </a:xfrm>
          <a:prstGeom prst="roundRect">
            <a:avLst>
              <a:gd name="adj" fmla="val 11482"/>
            </a:avLst>
          </a:prstGeom>
          <a:solidFill>
            <a:schemeClr val="bg1"/>
          </a:solidFill>
          <a:ln>
            <a:noFill/>
          </a:ln>
          <a:effectLst>
            <a:outerShdw blurRad="203200" dist="38100" dir="5400000" algn="t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A computer screen with a cart and text&#10;&#10;Description automatically generated">
            <a:extLst>
              <a:ext uri="{FF2B5EF4-FFF2-40B4-BE49-F238E27FC236}">
                <a16:creationId xmlns:a16="http://schemas.microsoft.com/office/drawing/2014/main" id="{716FEC7A-F19E-806C-7444-C89651D5D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659" y="2045444"/>
            <a:ext cx="2796679" cy="109981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95E19337-CAE4-C323-329C-4E88BBBCF67B}"/>
              </a:ext>
            </a:extLst>
          </p:cNvPr>
          <p:cNvGrpSpPr/>
          <p:nvPr/>
        </p:nvGrpSpPr>
        <p:grpSpPr>
          <a:xfrm>
            <a:off x="4173037" y="3499212"/>
            <a:ext cx="3845925" cy="881396"/>
            <a:chOff x="4338145" y="3499212"/>
            <a:chExt cx="3845925" cy="88139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4C5C5C3-E960-7D1C-F604-76D0E7D9D413}"/>
                </a:ext>
              </a:extLst>
            </p:cNvPr>
            <p:cNvSpPr txBox="1"/>
            <p:nvPr/>
          </p:nvSpPr>
          <p:spPr>
            <a:xfrm>
              <a:off x="4338145" y="3499212"/>
              <a:ext cx="38459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Verdana" panose="020B0604030504040204" pitchFamily="34" charset="0"/>
                  <a:ea typeface="Verdana" panose="020B0604030504040204" pitchFamily="34" charset="0"/>
                </a:rPr>
                <a:t>Đinh Quang Dương - 21520751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119AD00-EC2F-9876-7D2B-4E555A8BE490}"/>
                </a:ext>
              </a:extLst>
            </p:cNvPr>
            <p:cNvSpPr txBox="1"/>
            <p:nvPr/>
          </p:nvSpPr>
          <p:spPr>
            <a:xfrm>
              <a:off x="4338145" y="4011276"/>
              <a:ext cx="3515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Verdana" panose="020B0604030504040204" pitchFamily="34" charset="0"/>
                  <a:ea typeface="Verdana" panose="020B0604030504040204" pitchFamily="34" charset="0"/>
                </a:rPr>
                <a:t>Ngô Quang Khải - 21520953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2383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94C5C5C3-E960-7D1C-F604-76D0E7D9D413}"/>
              </a:ext>
            </a:extLst>
          </p:cNvPr>
          <p:cNvSpPr txBox="1"/>
          <p:nvPr/>
        </p:nvSpPr>
        <p:spPr>
          <a:xfrm>
            <a:off x="1162086" y="641033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MỤC LỤC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161E9C-01F2-46F0-DB9D-3B479A9718B0}"/>
              </a:ext>
            </a:extLst>
          </p:cNvPr>
          <p:cNvSpPr txBox="1"/>
          <p:nvPr/>
        </p:nvSpPr>
        <p:spPr>
          <a:xfrm>
            <a:off x="1798818" y="1917881"/>
            <a:ext cx="3071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1. Giới thiệu đề tài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108ED-68DA-946E-8F50-9D97AFE08C6E}"/>
              </a:ext>
            </a:extLst>
          </p:cNvPr>
          <p:cNvSpPr txBox="1"/>
          <p:nvPr/>
        </p:nvSpPr>
        <p:spPr>
          <a:xfrm>
            <a:off x="1798818" y="2610166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2. Phạm vi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C116D-0535-BB4E-780F-508D359CD529}"/>
              </a:ext>
            </a:extLst>
          </p:cNvPr>
          <p:cNvSpPr txBox="1"/>
          <p:nvPr/>
        </p:nvSpPr>
        <p:spPr>
          <a:xfrm>
            <a:off x="1798818" y="3302451"/>
            <a:ext cx="2252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3. Chức năng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67F61-2A26-6FEF-A345-093207BF2022}"/>
              </a:ext>
            </a:extLst>
          </p:cNvPr>
          <p:cNvSpPr txBox="1"/>
          <p:nvPr/>
        </p:nvSpPr>
        <p:spPr>
          <a:xfrm>
            <a:off x="1798818" y="3994736"/>
            <a:ext cx="185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4. Thiết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kế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Lao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C6BC64-E9BF-22CF-5114-ADAFD399FD0B}"/>
              </a:ext>
            </a:extLst>
          </p:cNvPr>
          <p:cNvSpPr txBox="1"/>
          <p:nvPr/>
        </p:nvSpPr>
        <p:spPr>
          <a:xfrm>
            <a:off x="1798818" y="4687021"/>
            <a:ext cx="2207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5. Phân công</a:t>
            </a:r>
          </a:p>
        </p:txBody>
      </p:sp>
    </p:spTree>
    <p:extLst>
      <p:ext uri="{BB962C8B-B14F-4D97-AF65-F5344CB8AC3E}">
        <p14:creationId xmlns:p14="http://schemas.microsoft.com/office/powerpoint/2010/main" val="229783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75883-70E5-453C-6035-7C5D5A553915}"/>
              </a:ext>
            </a:extLst>
          </p:cNvPr>
          <p:cNvSpPr/>
          <p:nvPr/>
        </p:nvSpPr>
        <p:spPr>
          <a:xfrm>
            <a:off x="1071880" y="674616"/>
            <a:ext cx="4745621" cy="318524"/>
          </a:xfrm>
          <a:prstGeom prst="rect">
            <a:avLst/>
          </a:prstGeom>
          <a:gradFill flip="none" rotWithShape="1">
            <a:gsLst>
              <a:gs pos="0">
                <a:srgbClr val="F1B317"/>
              </a:gs>
              <a:gs pos="100000">
                <a:srgbClr val="EF661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507CC-8C91-6122-0F20-ECBE3B399A41}"/>
              </a:ext>
            </a:extLst>
          </p:cNvPr>
          <p:cNvSpPr txBox="1"/>
          <p:nvPr/>
        </p:nvSpPr>
        <p:spPr>
          <a:xfrm>
            <a:off x="847636" y="328806"/>
            <a:ext cx="4847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pc="3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GIỚI THIỆU ĐỀ TÀI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34EBD-FE24-5D75-BED3-6797D0DFB56A}"/>
              </a:ext>
            </a:extLst>
          </p:cNvPr>
          <p:cNvSpPr txBox="1"/>
          <p:nvPr/>
        </p:nvSpPr>
        <p:spPr>
          <a:xfrm>
            <a:off x="1351280" y="2688104"/>
            <a:ext cx="94894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2400" b="1" i="1" dirty="0">
                <a:effectLst/>
                <a:latin typeface="Söhne"/>
              </a:rPr>
              <a:t>TechMarket </a:t>
            </a:r>
            <a:r>
              <a:rPr lang="vi-VN" sz="2400" b="0" i="0" dirty="0">
                <a:effectLst/>
                <a:latin typeface="Söhne"/>
              </a:rPr>
              <a:t>là trang web rao vặt điện tử đã qua sử dụng, cho phép người bán đăng thông tin sản phẩm</a:t>
            </a:r>
            <a:r>
              <a:rPr lang="en-US" sz="2400" b="0" i="0" dirty="0">
                <a:effectLst/>
                <a:latin typeface="Söhne"/>
              </a:rPr>
              <a:t> </a:t>
            </a:r>
            <a:r>
              <a:rPr lang="vi-VN" sz="2400" b="0" i="0" dirty="0">
                <a:effectLst/>
                <a:latin typeface="Söhne"/>
              </a:rPr>
              <a:t>. Người mua có thể tìm kiếm và mua hàng qua trò chuyện hoặc tính nă</a:t>
            </a:r>
            <a:r>
              <a:rPr lang="en-US" sz="2400" b="0" i="0" dirty="0">
                <a:effectLst/>
                <a:latin typeface="Söhne"/>
              </a:rPr>
              <a:t>ng đặt hàng. </a:t>
            </a:r>
            <a:r>
              <a:rPr lang="vi-VN" sz="2400" b="0" i="0" dirty="0">
                <a:effectLst/>
                <a:latin typeface="Söhne"/>
              </a:rPr>
              <a:t>Quản trị viên có thể kiểm soát tài khoản và xử lý vi phạm. </a:t>
            </a:r>
            <a:r>
              <a:rPr lang="en-US" sz="2400" b="0" i="0" dirty="0">
                <a:effectLst/>
                <a:latin typeface="Söhne"/>
              </a:rPr>
              <a:t>Có </a:t>
            </a:r>
            <a:r>
              <a:rPr lang="vi-VN" sz="2400" b="0" i="0" dirty="0">
                <a:effectLst/>
                <a:latin typeface="Söhne"/>
              </a:rPr>
              <a:t>trung tâm trợ giúp và phản hồi từ người dùng được quản lý bởi Bộ phận Chăm sóc khách hàng.</a:t>
            </a:r>
            <a:endParaRPr lang="en-US" sz="2400" spc="300" dirty="0">
              <a:latin typeface="Verdana" panose="020B0604030504040204" pitchFamily="34" charset="0"/>
              <a:ea typeface="Verdana" panose="020B0604030504040204" pitchFamily="34" charset="0"/>
              <a:cs typeface="Lao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336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75883-70E5-453C-6035-7C5D5A553915}"/>
              </a:ext>
            </a:extLst>
          </p:cNvPr>
          <p:cNvSpPr/>
          <p:nvPr/>
        </p:nvSpPr>
        <p:spPr>
          <a:xfrm>
            <a:off x="1071881" y="674616"/>
            <a:ext cx="2120900" cy="318524"/>
          </a:xfrm>
          <a:prstGeom prst="rect">
            <a:avLst/>
          </a:prstGeom>
          <a:gradFill flip="none" rotWithShape="1">
            <a:gsLst>
              <a:gs pos="0">
                <a:srgbClr val="F1B317"/>
              </a:gs>
              <a:gs pos="100000">
                <a:srgbClr val="EF661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507CC-8C91-6122-0F20-ECBE3B399A41}"/>
              </a:ext>
            </a:extLst>
          </p:cNvPr>
          <p:cNvSpPr txBox="1"/>
          <p:nvPr/>
        </p:nvSpPr>
        <p:spPr>
          <a:xfrm>
            <a:off x="847636" y="328806"/>
            <a:ext cx="2233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pc="3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PHẠM VI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34EBD-FE24-5D75-BED3-6797D0DFB56A}"/>
              </a:ext>
            </a:extLst>
          </p:cNvPr>
          <p:cNvSpPr txBox="1"/>
          <p:nvPr/>
        </p:nvSpPr>
        <p:spPr>
          <a:xfrm>
            <a:off x="3944011" y="531475"/>
            <a:ext cx="3336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Domain model</a:t>
            </a:r>
          </a:p>
        </p:txBody>
      </p:sp>
      <p:pic>
        <p:nvPicPr>
          <p:cNvPr id="27" name="Picture 26" descr="A diagram of a customer care system&#10;&#10;Description automatically generated">
            <a:extLst>
              <a:ext uri="{FF2B5EF4-FFF2-40B4-BE49-F238E27FC236}">
                <a16:creationId xmlns:a16="http://schemas.microsoft.com/office/drawing/2014/main" id="{DDB51424-4B56-3DF9-BA6F-460D3B952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737" y="993140"/>
            <a:ext cx="801052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82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75883-70E5-453C-6035-7C5D5A553915}"/>
              </a:ext>
            </a:extLst>
          </p:cNvPr>
          <p:cNvSpPr/>
          <p:nvPr/>
        </p:nvSpPr>
        <p:spPr>
          <a:xfrm>
            <a:off x="1071881" y="674616"/>
            <a:ext cx="2120900" cy="318524"/>
          </a:xfrm>
          <a:prstGeom prst="rect">
            <a:avLst/>
          </a:prstGeom>
          <a:gradFill flip="none" rotWithShape="1">
            <a:gsLst>
              <a:gs pos="0">
                <a:srgbClr val="F1B317"/>
              </a:gs>
              <a:gs pos="100000">
                <a:srgbClr val="EF661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507CC-8C91-6122-0F20-ECBE3B399A41}"/>
              </a:ext>
            </a:extLst>
          </p:cNvPr>
          <p:cNvSpPr txBox="1"/>
          <p:nvPr/>
        </p:nvSpPr>
        <p:spPr>
          <a:xfrm>
            <a:off x="847636" y="328806"/>
            <a:ext cx="2233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pc="3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PHẠM VI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34EBD-FE24-5D75-BED3-6797D0DFB56A}"/>
              </a:ext>
            </a:extLst>
          </p:cNvPr>
          <p:cNvSpPr txBox="1"/>
          <p:nvPr/>
        </p:nvSpPr>
        <p:spPr>
          <a:xfrm>
            <a:off x="3944011" y="531475"/>
            <a:ext cx="3336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Các tác nhân chính: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C94006-A501-384C-CE7C-9371C25DC466}"/>
              </a:ext>
            </a:extLst>
          </p:cNvPr>
          <p:cNvSpPr txBox="1"/>
          <p:nvPr/>
        </p:nvSpPr>
        <p:spPr>
          <a:xfrm>
            <a:off x="1486448" y="1856101"/>
            <a:ext cx="877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EF6618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User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8BE00-0E8B-28B1-1F18-2692CB9B6BE4}"/>
              </a:ext>
            </a:extLst>
          </p:cNvPr>
          <p:cNvSpPr txBox="1"/>
          <p:nvPr/>
        </p:nvSpPr>
        <p:spPr>
          <a:xfrm>
            <a:off x="2978264" y="1361624"/>
            <a:ext cx="8705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EF6618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Buyer: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tìm kiếm và mua hàng theo nhu cầu,  chat với người bán,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báo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cáo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 bài đăng vi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phạm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Lao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6F6EC7-3082-EB3F-1E0D-275C146F47AC}"/>
              </a:ext>
            </a:extLst>
          </p:cNvPr>
          <p:cNvSpPr txBox="1"/>
          <p:nvPr/>
        </p:nvSpPr>
        <p:spPr>
          <a:xfrm>
            <a:off x="2978265" y="2203134"/>
            <a:ext cx="78929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EF6618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Seller: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đăng bài bán hàng, quản lý bài đăng, đơn hàng, chat với người mua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Lao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1B6D0B-873F-B8A2-C7DA-86D1296E8E7F}"/>
              </a:ext>
            </a:extLst>
          </p:cNvPr>
          <p:cNvSpPr txBox="1"/>
          <p:nvPr/>
        </p:nvSpPr>
        <p:spPr>
          <a:xfrm>
            <a:off x="1486448" y="3601081"/>
            <a:ext cx="9841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EF6618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Admin: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quản lý user,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duyệt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 các bài đăng,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xử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lí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 vi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phạm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Lao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00781-0F1A-5044-895F-02620FCF31BA}"/>
              </a:ext>
            </a:extLst>
          </p:cNvPr>
          <p:cNvSpPr txBox="1"/>
          <p:nvPr/>
        </p:nvSpPr>
        <p:spPr>
          <a:xfrm>
            <a:off x="1486448" y="4552327"/>
            <a:ext cx="9841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EF6618"/>
                </a:solidFill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Customer Care Department: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quản lý Help center,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xử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lí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 feedback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của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 người dùng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CD2D1E-7207-8966-EA63-58927F01692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364105" y="1746345"/>
            <a:ext cx="614159" cy="3405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1FEEF2-4F1A-1A6D-2CC6-0F61698920A5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2364105" y="2086934"/>
            <a:ext cx="614160" cy="5009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08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8A6C551-9E90-1477-1050-62083540B20E}"/>
              </a:ext>
            </a:extLst>
          </p:cNvPr>
          <p:cNvSpPr/>
          <p:nvPr/>
        </p:nvSpPr>
        <p:spPr>
          <a:xfrm>
            <a:off x="6794072" y="1698153"/>
            <a:ext cx="4168789" cy="179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875883-70E5-453C-6035-7C5D5A553915}"/>
              </a:ext>
            </a:extLst>
          </p:cNvPr>
          <p:cNvSpPr/>
          <p:nvPr/>
        </p:nvSpPr>
        <p:spPr>
          <a:xfrm>
            <a:off x="1071881" y="674616"/>
            <a:ext cx="2858650" cy="318524"/>
          </a:xfrm>
          <a:prstGeom prst="rect">
            <a:avLst/>
          </a:prstGeom>
          <a:gradFill flip="none" rotWithShape="1">
            <a:gsLst>
              <a:gs pos="0">
                <a:srgbClr val="F1B317"/>
              </a:gs>
              <a:gs pos="100000">
                <a:srgbClr val="EF661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DC98B5-E81D-D344-C8B4-45F852028DD3}"/>
              </a:ext>
            </a:extLst>
          </p:cNvPr>
          <p:cNvSpPr/>
          <p:nvPr/>
        </p:nvSpPr>
        <p:spPr>
          <a:xfrm>
            <a:off x="660823" y="1698152"/>
            <a:ext cx="5877629" cy="4336888"/>
          </a:xfrm>
          <a:prstGeom prst="rect">
            <a:avLst/>
          </a:prstGeom>
          <a:solidFill>
            <a:srgbClr val="FAE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507CC-8C91-6122-0F20-ECBE3B399A41}"/>
              </a:ext>
            </a:extLst>
          </p:cNvPr>
          <p:cNvSpPr txBox="1"/>
          <p:nvPr/>
        </p:nvSpPr>
        <p:spPr>
          <a:xfrm>
            <a:off x="847636" y="328806"/>
            <a:ext cx="3082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pc="3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CHỨC NĂNG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EF07FC-4218-6E72-AC0B-28D793A09C4D}"/>
              </a:ext>
            </a:extLst>
          </p:cNvPr>
          <p:cNvSpPr txBox="1"/>
          <p:nvPr/>
        </p:nvSpPr>
        <p:spPr>
          <a:xfrm>
            <a:off x="1573162" y="1092242"/>
            <a:ext cx="3135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Các chức năng chính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F92A9C-4D27-E032-8EBF-5DBAD415D049}"/>
              </a:ext>
            </a:extLst>
          </p:cNvPr>
          <p:cNvSpPr/>
          <p:nvPr/>
        </p:nvSpPr>
        <p:spPr>
          <a:xfrm>
            <a:off x="6794072" y="3827167"/>
            <a:ext cx="4168789" cy="14462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B29A5A-6A02-E5F0-3FF6-96ABDB8A9674}"/>
              </a:ext>
            </a:extLst>
          </p:cNvPr>
          <p:cNvGrpSpPr/>
          <p:nvPr/>
        </p:nvGrpSpPr>
        <p:grpSpPr>
          <a:xfrm>
            <a:off x="1404098" y="2182514"/>
            <a:ext cx="4694155" cy="3720446"/>
            <a:chOff x="6322967" y="593030"/>
            <a:chExt cx="4694155" cy="263156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AE983A7-6115-0D8E-64FF-ECD0B678B4AE}"/>
                </a:ext>
              </a:extLst>
            </p:cNvPr>
            <p:cNvGrpSpPr/>
            <p:nvPr/>
          </p:nvGrpSpPr>
          <p:grpSpPr>
            <a:xfrm>
              <a:off x="6322967" y="593030"/>
              <a:ext cx="3062133" cy="400110"/>
              <a:chOff x="6403118" y="593030"/>
              <a:chExt cx="3062133" cy="400110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BBD37B-B4E7-DC69-D594-C7FD7908155E}"/>
                  </a:ext>
                </a:extLst>
              </p:cNvPr>
              <p:cNvSpPr txBox="1"/>
              <p:nvPr/>
            </p:nvSpPr>
            <p:spPr>
              <a:xfrm>
                <a:off x="7877957" y="593030"/>
                <a:ext cx="158729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Đăng nhập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E73313-34FB-3BDA-7DFF-1129E2B07EA3}"/>
                  </a:ext>
                </a:extLst>
              </p:cNvPr>
              <p:cNvSpPr txBox="1"/>
              <p:nvPr/>
            </p:nvSpPr>
            <p:spPr>
              <a:xfrm>
                <a:off x="6403118" y="593030"/>
                <a:ext cx="12538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Đăng ký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FBAC133-761B-81D9-0A7F-FE374DB0CC1D}"/>
                </a:ext>
              </a:extLst>
            </p:cNvPr>
            <p:cNvGrpSpPr/>
            <p:nvPr/>
          </p:nvGrpSpPr>
          <p:grpSpPr>
            <a:xfrm>
              <a:off x="6322967" y="993140"/>
              <a:ext cx="3850541" cy="403288"/>
              <a:chOff x="6322967" y="1003520"/>
              <a:chExt cx="3850541" cy="403288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3A5045-89B0-A397-42A6-506BBAED6592}"/>
                  </a:ext>
                </a:extLst>
              </p:cNvPr>
              <p:cNvSpPr txBox="1"/>
              <p:nvPr/>
            </p:nvSpPr>
            <p:spPr>
              <a:xfrm>
                <a:off x="6322967" y="1006698"/>
                <a:ext cx="13340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Đăng bài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849AA5-422D-4656-E24B-672D3D259A4E}"/>
                  </a:ext>
                </a:extLst>
              </p:cNvPr>
              <p:cNvSpPr txBox="1"/>
              <p:nvPr/>
            </p:nvSpPr>
            <p:spPr>
              <a:xfrm>
                <a:off x="7795934" y="1003520"/>
                <a:ext cx="237757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Quản lý bài đăng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B9DE178-E0E0-803C-273C-6708AD881D82}"/>
                </a:ext>
              </a:extLst>
            </p:cNvPr>
            <p:cNvSpPr txBox="1"/>
            <p:nvPr/>
          </p:nvSpPr>
          <p:spPr>
            <a:xfrm>
              <a:off x="6322967" y="1399607"/>
              <a:ext cx="25667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Chat để mua hàng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715FB5C-6DBB-C522-4C5F-08B85FC4587F}"/>
                </a:ext>
              </a:extLst>
            </p:cNvPr>
            <p:cNvSpPr txBox="1"/>
            <p:nvPr/>
          </p:nvSpPr>
          <p:spPr>
            <a:xfrm>
              <a:off x="6325220" y="1802896"/>
              <a:ext cx="469190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Đặt hàng ( đối với các bài đăng có tag ‘Guarantee’ 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74EBC3-3B50-F6BD-8D59-5F1FD67E7763}"/>
                </a:ext>
              </a:extLst>
            </p:cNvPr>
            <p:cNvSpPr txBox="1"/>
            <p:nvPr/>
          </p:nvSpPr>
          <p:spPr>
            <a:xfrm>
              <a:off x="6322967" y="2824486"/>
              <a:ext cx="11641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Đẩy bài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1EAD873-EA63-0595-86F1-9BEC6F72E794}"/>
                </a:ext>
              </a:extLst>
            </p:cNvPr>
            <p:cNvSpPr txBox="1"/>
            <p:nvPr/>
          </p:nvSpPr>
          <p:spPr>
            <a:xfrm>
              <a:off x="6325220" y="2403882"/>
              <a:ext cx="4691902" cy="283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Quản lý đơn hàng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5F4378B-7929-18AC-3CE0-A901866A34EB}"/>
              </a:ext>
            </a:extLst>
          </p:cNvPr>
          <p:cNvGrpSpPr/>
          <p:nvPr/>
        </p:nvGrpSpPr>
        <p:grpSpPr>
          <a:xfrm>
            <a:off x="7482007" y="1900512"/>
            <a:ext cx="2719014" cy="1364226"/>
            <a:chOff x="7482007" y="1782405"/>
            <a:chExt cx="2719014" cy="12394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49EC111-E45A-F774-F2B8-610DBB7F4FA9}"/>
                </a:ext>
              </a:extLst>
            </p:cNvPr>
            <p:cNvSpPr txBox="1"/>
            <p:nvPr/>
          </p:nvSpPr>
          <p:spPr>
            <a:xfrm>
              <a:off x="7482007" y="1782405"/>
              <a:ext cx="27190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Quản lý người dùng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09C8B3D-B28C-3C7A-A403-731D701560C7}"/>
                </a:ext>
              </a:extLst>
            </p:cNvPr>
            <p:cNvSpPr txBox="1"/>
            <p:nvPr/>
          </p:nvSpPr>
          <p:spPr>
            <a:xfrm>
              <a:off x="7482007" y="2202065"/>
              <a:ext cx="20585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Verdana" panose="020B0604030504040204" pitchFamily="34" charset="0"/>
                  <a:ea typeface="Verdana" panose="020B0604030504040204" pitchFamily="34" charset="0"/>
                </a:rPr>
                <a:t>Cấm</a:t>
              </a: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 tài </a:t>
              </a:r>
              <a:r>
                <a:rPr lang="en-US" sz="2000" dirty="0" err="1">
                  <a:latin typeface="Verdana" panose="020B0604030504040204" pitchFamily="34" charset="0"/>
                  <a:ea typeface="Verdana" panose="020B0604030504040204" pitchFamily="34" charset="0"/>
                </a:rPr>
                <a:t>khoản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9917C50-4443-6851-CBA1-3DB4734FF95B}"/>
                </a:ext>
              </a:extLst>
            </p:cNvPr>
            <p:cNvSpPr txBox="1"/>
            <p:nvPr/>
          </p:nvSpPr>
          <p:spPr>
            <a:xfrm>
              <a:off x="7482007" y="2621726"/>
              <a:ext cx="25394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Quản lý danh </a:t>
              </a:r>
              <a:r>
                <a:rPr lang="en-US" sz="2000" dirty="0" err="1">
                  <a:latin typeface="Verdana" panose="020B0604030504040204" pitchFamily="34" charset="0"/>
                  <a:ea typeface="Verdana" panose="020B0604030504040204" pitchFamily="34" charset="0"/>
                </a:rPr>
                <a:t>mục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EDD6D78-24CC-7E68-3F4F-3BF83CCE7662}"/>
              </a:ext>
            </a:extLst>
          </p:cNvPr>
          <p:cNvGrpSpPr/>
          <p:nvPr/>
        </p:nvGrpSpPr>
        <p:grpSpPr>
          <a:xfrm>
            <a:off x="7482007" y="4084563"/>
            <a:ext cx="2741456" cy="850596"/>
            <a:chOff x="7482007" y="3625275"/>
            <a:chExt cx="2741456" cy="85059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3F1D791-4B57-7BE0-4D4B-158C38EC298D}"/>
                </a:ext>
              </a:extLst>
            </p:cNvPr>
            <p:cNvSpPr txBox="1"/>
            <p:nvPr/>
          </p:nvSpPr>
          <p:spPr>
            <a:xfrm>
              <a:off x="7482007" y="3625275"/>
              <a:ext cx="27414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Quản lý Help center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B23B573-C8D2-9E56-9EF6-95C799A8D266}"/>
                </a:ext>
              </a:extLst>
            </p:cNvPr>
            <p:cNvSpPr txBox="1"/>
            <p:nvPr/>
          </p:nvSpPr>
          <p:spPr>
            <a:xfrm>
              <a:off x="7482007" y="4075761"/>
              <a:ext cx="20874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Verdana" panose="020B0604030504040204" pitchFamily="34" charset="0"/>
                  <a:ea typeface="Verdana" panose="020B0604030504040204" pitchFamily="34" charset="0"/>
                </a:rPr>
                <a:t>Xử</a:t>
              </a: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 lý feedback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9701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75883-70E5-453C-6035-7C5D5A553915}"/>
              </a:ext>
            </a:extLst>
          </p:cNvPr>
          <p:cNvSpPr/>
          <p:nvPr/>
        </p:nvSpPr>
        <p:spPr>
          <a:xfrm>
            <a:off x="1071881" y="674616"/>
            <a:ext cx="2341879" cy="318524"/>
          </a:xfrm>
          <a:prstGeom prst="rect">
            <a:avLst/>
          </a:prstGeom>
          <a:gradFill flip="none" rotWithShape="1">
            <a:gsLst>
              <a:gs pos="0">
                <a:srgbClr val="F1B317"/>
              </a:gs>
              <a:gs pos="100000">
                <a:srgbClr val="EF661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507CC-8C91-6122-0F20-ECBE3B399A41}"/>
              </a:ext>
            </a:extLst>
          </p:cNvPr>
          <p:cNvSpPr txBox="1"/>
          <p:nvPr/>
        </p:nvSpPr>
        <p:spPr>
          <a:xfrm>
            <a:off x="847636" y="328806"/>
            <a:ext cx="24272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pc="3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THIẾT KẾ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7BD631-45E4-108A-B777-AD09D1EFD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169" y="497711"/>
            <a:ext cx="8020502" cy="619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A5CBF3-EAB4-5B98-B829-AF665E37691F}"/>
              </a:ext>
            </a:extLst>
          </p:cNvPr>
          <p:cNvSpPr txBox="1"/>
          <p:nvPr/>
        </p:nvSpPr>
        <p:spPr>
          <a:xfrm>
            <a:off x="1616473" y="1108117"/>
            <a:ext cx="1797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1319197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75883-70E5-453C-6035-7C5D5A553915}"/>
              </a:ext>
            </a:extLst>
          </p:cNvPr>
          <p:cNvSpPr/>
          <p:nvPr/>
        </p:nvSpPr>
        <p:spPr>
          <a:xfrm>
            <a:off x="1071881" y="674616"/>
            <a:ext cx="2341879" cy="318524"/>
          </a:xfrm>
          <a:prstGeom prst="rect">
            <a:avLst/>
          </a:prstGeom>
          <a:gradFill flip="none" rotWithShape="1">
            <a:gsLst>
              <a:gs pos="0">
                <a:srgbClr val="F1B317"/>
              </a:gs>
              <a:gs pos="100000">
                <a:srgbClr val="EF661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507CC-8C91-6122-0F20-ECBE3B399A41}"/>
              </a:ext>
            </a:extLst>
          </p:cNvPr>
          <p:cNvSpPr txBox="1"/>
          <p:nvPr/>
        </p:nvSpPr>
        <p:spPr>
          <a:xfrm>
            <a:off x="847636" y="328806"/>
            <a:ext cx="24272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pc="3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THIẾT KẾ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A5CBF3-EAB4-5B98-B829-AF665E37691F}"/>
              </a:ext>
            </a:extLst>
          </p:cNvPr>
          <p:cNvSpPr txBox="1"/>
          <p:nvPr/>
        </p:nvSpPr>
        <p:spPr>
          <a:xfrm>
            <a:off x="1616473" y="1108117"/>
            <a:ext cx="1300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UI/UX</a:t>
            </a:r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961E1D3B-461A-0C1C-5CC6-03C8848FE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232" y="0"/>
            <a:ext cx="8663731" cy="927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72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75883-70E5-453C-6035-7C5D5A553915}"/>
              </a:ext>
            </a:extLst>
          </p:cNvPr>
          <p:cNvSpPr/>
          <p:nvPr/>
        </p:nvSpPr>
        <p:spPr>
          <a:xfrm>
            <a:off x="1071881" y="674616"/>
            <a:ext cx="2858650" cy="318524"/>
          </a:xfrm>
          <a:prstGeom prst="rect">
            <a:avLst/>
          </a:prstGeom>
          <a:gradFill flip="none" rotWithShape="1">
            <a:gsLst>
              <a:gs pos="0">
                <a:srgbClr val="F1B317"/>
              </a:gs>
              <a:gs pos="100000">
                <a:srgbClr val="EF661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507CC-8C91-6122-0F20-ECBE3B399A41}"/>
              </a:ext>
            </a:extLst>
          </p:cNvPr>
          <p:cNvSpPr txBox="1"/>
          <p:nvPr/>
        </p:nvSpPr>
        <p:spPr>
          <a:xfrm>
            <a:off x="847636" y="328806"/>
            <a:ext cx="3055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pc="3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PHÂN CÔNG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8AA4CA-C315-AB0F-6CE3-8BF2C82743F6}"/>
              </a:ext>
            </a:extLst>
          </p:cNvPr>
          <p:cNvSpPr txBox="1"/>
          <p:nvPr/>
        </p:nvSpPr>
        <p:spPr>
          <a:xfrm>
            <a:off x="5283200" y="993140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BRD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FDF430-5654-1DCB-84EB-E45218085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830298"/>
              </p:ext>
            </p:extLst>
          </p:nvPr>
        </p:nvGraphicFramePr>
        <p:xfrm>
          <a:off x="1290320" y="1715346"/>
          <a:ext cx="9367520" cy="20269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683760">
                  <a:extLst>
                    <a:ext uri="{9D8B030D-6E8A-4147-A177-3AD203B41FA5}">
                      <a16:colId xmlns:a16="http://schemas.microsoft.com/office/drawing/2014/main" val="2835267963"/>
                    </a:ext>
                  </a:extLst>
                </a:gridCol>
                <a:gridCol w="4683760">
                  <a:extLst>
                    <a:ext uri="{9D8B030D-6E8A-4147-A177-3AD203B41FA5}">
                      <a16:colId xmlns:a16="http://schemas.microsoft.com/office/drawing/2014/main" val="2832565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Khải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Dương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599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Khảo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sát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các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trang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web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hiện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có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-&gt;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Đưa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ra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phạm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vi và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tổng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quan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cho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đề tài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Xác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định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các chức năng chính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-&gt;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vẽ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use case diagram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05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Vẽ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domain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Xác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định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security matrix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86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Viết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user 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379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89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75883-70E5-453C-6035-7C5D5A553915}"/>
              </a:ext>
            </a:extLst>
          </p:cNvPr>
          <p:cNvSpPr/>
          <p:nvPr/>
        </p:nvSpPr>
        <p:spPr>
          <a:xfrm>
            <a:off x="1071881" y="674616"/>
            <a:ext cx="2858650" cy="318524"/>
          </a:xfrm>
          <a:prstGeom prst="rect">
            <a:avLst/>
          </a:prstGeom>
          <a:gradFill flip="none" rotWithShape="1">
            <a:gsLst>
              <a:gs pos="0">
                <a:srgbClr val="F1B317"/>
              </a:gs>
              <a:gs pos="100000">
                <a:srgbClr val="EF661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507CC-8C91-6122-0F20-ECBE3B399A41}"/>
              </a:ext>
            </a:extLst>
          </p:cNvPr>
          <p:cNvSpPr txBox="1"/>
          <p:nvPr/>
        </p:nvSpPr>
        <p:spPr>
          <a:xfrm>
            <a:off x="847636" y="328806"/>
            <a:ext cx="3055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pc="3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PHÂN CÔNG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8AA4CA-C315-AB0F-6CE3-8BF2C82743F6}"/>
              </a:ext>
            </a:extLst>
          </p:cNvPr>
          <p:cNvSpPr txBox="1"/>
          <p:nvPr/>
        </p:nvSpPr>
        <p:spPr>
          <a:xfrm>
            <a:off x="5283200" y="993140"/>
            <a:ext cx="1648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Diagram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FDF430-5654-1DCB-84EB-E45218085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03597"/>
              </p:ext>
            </p:extLst>
          </p:nvPr>
        </p:nvGraphicFramePr>
        <p:xfrm>
          <a:off x="1290320" y="1715346"/>
          <a:ext cx="9367520" cy="4302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683760">
                  <a:extLst>
                    <a:ext uri="{9D8B030D-6E8A-4147-A177-3AD203B41FA5}">
                      <a16:colId xmlns:a16="http://schemas.microsoft.com/office/drawing/2014/main" val="2835267963"/>
                    </a:ext>
                  </a:extLst>
                </a:gridCol>
                <a:gridCol w="4683760">
                  <a:extLst>
                    <a:ext uri="{9D8B030D-6E8A-4147-A177-3AD203B41FA5}">
                      <a16:colId xmlns:a16="http://schemas.microsoft.com/office/drawing/2014/main" val="2832565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Khải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Dương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599500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Vẽ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activity diagram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cho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: 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Leave a feedback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Guarantee payment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Link sales wallet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Use post push service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Choose shipping address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Pay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Report post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CRUD category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Ban account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Manage bank account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Update legal document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Update information for help center</a:t>
                      </a:r>
                    </a:p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Handle feedback from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Vẽ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activity diagram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cho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: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05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809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75883-70E5-453C-6035-7C5D5A553915}"/>
              </a:ext>
            </a:extLst>
          </p:cNvPr>
          <p:cNvSpPr/>
          <p:nvPr/>
        </p:nvSpPr>
        <p:spPr>
          <a:xfrm>
            <a:off x="1071881" y="674616"/>
            <a:ext cx="2858650" cy="318524"/>
          </a:xfrm>
          <a:prstGeom prst="rect">
            <a:avLst/>
          </a:prstGeom>
          <a:gradFill flip="none" rotWithShape="1">
            <a:gsLst>
              <a:gs pos="0">
                <a:srgbClr val="F1B317"/>
              </a:gs>
              <a:gs pos="100000">
                <a:srgbClr val="EF661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507CC-8C91-6122-0F20-ECBE3B399A41}"/>
              </a:ext>
            </a:extLst>
          </p:cNvPr>
          <p:cNvSpPr txBox="1"/>
          <p:nvPr/>
        </p:nvSpPr>
        <p:spPr>
          <a:xfrm>
            <a:off x="847636" y="328806"/>
            <a:ext cx="30556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pc="300" dirty="0">
                <a:latin typeface="Verdana" panose="020B0604030504040204" pitchFamily="34" charset="0"/>
                <a:ea typeface="Verdana" panose="020B0604030504040204" pitchFamily="34" charset="0"/>
                <a:cs typeface="Lao UI" panose="020B0502040204020203" pitchFamily="34" charset="0"/>
              </a:rPr>
              <a:t>PHÂN CÔNG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8AA4CA-C315-AB0F-6CE3-8BF2C82743F6}"/>
              </a:ext>
            </a:extLst>
          </p:cNvPr>
          <p:cNvSpPr txBox="1"/>
          <p:nvPr/>
        </p:nvSpPr>
        <p:spPr>
          <a:xfrm>
            <a:off x="5543513" y="993140"/>
            <a:ext cx="86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FDF430-5654-1DCB-84EB-E45218085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305459"/>
              </p:ext>
            </p:extLst>
          </p:nvPr>
        </p:nvGraphicFramePr>
        <p:xfrm>
          <a:off x="1290320" y="1782118"/>
          <a:ext cx="9367520" cy="94698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683760">
                  <a:extLst>
                    <a:ext uri="{9D8B030D-6E8A-4147-A177-3AD203B41FA5}">
                      <a16:colId xmlns:a16="http://schemas.microsoft.com/office/drawing/2014/main" val="2835267963"/>
                    </a:ext>
                  </a:extLst>
                </a:gridCol>
                <a:gridCol w="4683760">
                  <a:extLst>
                    <a:ext uri="{9D8B030D-6E8A-4147-A177-3AD203B41FA5}">
                      <a16:colId xmlns:a16="http://schemas.microsoft.com/office/drawing/2014/main" val="2832565805"/>
                    </a:ext>
                  </a:extLst>
                </a:gridCol>
              </a:tblGrid>
              <a:tr h="2477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Khải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Dương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599500"/>
                  </a:ext>
                </a:extLst>
              </a:tr>
              <a:tr h="581222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Viết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toàn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bộ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use case 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Viết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list view và view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058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49AF32C-F08C-3599-296C-BC5F887FFA03}"/>
              </a:ext>
            </a:extLst>
          </p:cNvPr>
          <p:cNvSpPr txBox="1"/>
          <p:nvPr/>
        </p:nvSpPr>
        <p:spPr>
          <a:xfrm>
            <a:off x="5441913" y="2967335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Khác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DF6090-DDFF-5D24-4A97-135B669C2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712924"/>
              </p:ext>
            </p:extLst>
          </p:nvPr>
        </p:nvGraphicFramePr>
        <p:xfrm>
          <a:off x="1188720" y="3689541"/>
          <a:ext cx="9367520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683760">
                  <a:extLst>
                    <a:ext uri="{9D8B030D-6E8A-4147-A177-3AD203B41FA5}">
                      <a16:colId xmlns:a16="http://schemas.microsoft.com/office/drawing/2014/main" val="2835267963"/>
                    </a:ext>
                  </a:extLst>
                </a:gridCol>
                <a:gridCol w="4683760">
                  <a:extLst>
                    <a:ext uri="{9D8B030D-6E8A-4147-A177-3AD203B41FA5}">
                      <a16:colId xmlns:a16="http://schemas.microsoft.com/office/drawing/2014/main" val="2832565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Khải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Dương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5995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Thiết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kế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UI/UX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Thiết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kế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05896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Xác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định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chi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phí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phầm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mềm</a:t>
                      </a:r>
                      <a:endParaRPr lang="en-US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623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005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397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Verdana</vt:lpstr>
      <vt:lpstr>Söhne</vt:lpstr>
      <vt:lpstr>Aptos</vt:lpstr>
      <vt:lpstr>Arial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Ngô Quang Khải</dc:creator>
  <cp:lastModifiedBy>Ngô Quang Khải</cp:lastModifiedBy>
  <cp:revision>1</cp:revision>
  <dcterms:created xsi:type="dcterms:W3CDTF">2024-01-15T15:17:01Z</dcterms:created>
  <dcterms:modified xsi:type="dcterms:W3CDTF">2024-01-15T18:01:29Z</dcterms:modified>
</cp:coreProperties>
</file>